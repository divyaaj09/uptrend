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55" r:id="rId2"/>
    <p:sldId id="356" r:id="rId3"/>
    <p:sldId id="373" r:id="rId4"/>
    <p:sldId id="374" r:id="rId5"/>
    <p:sldId id="367" r:id="rId6"/>
    <p:sldId id="359" r:id="rId7"/>
    <p:sldId id="361" r:id="rId8"/>
    <p:sldId id="360" r:id="rId9"/>
    <p:sldId id="368" r:id="rId10"/>
    <p:sldId id="372" r:id="rId11"/>
    <p:sldId id="362" r:id="rId12"/>
    <p:sldId id="371" r:id="rId13"/>
    <p:sldId id="365" r:id="rId14"/>
    <p:sldId id="366" r:id="rId15"/>
    <p:sldId id="358" r:id="rId16"/>
  </p:sldIdLst>
  <p:sldSz cx="12192000" cy="6858000"/>
  <p:notesSz cx="6858000" cy="9144000"/>
  <p:defaultTextStyle>
    <a:defPPr>
      <a:defRPr lang="en-US"/>
    </a:defPPr>
    <a:lvl1pPr marL="0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pple 2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289"/>
    <a:srgbClr val="003683"/>
    <a:srgbClr val="EF3E40"/>
    <a:srgbClr val="003F88"/>
    <a:srgbClr val="F03534"/>
    <a:srgbClr val="4478AB"/>
    <a:srgbClr val="ED3D3D"/>
    <a:srgbClr val="EE3F3E"/>
    <a:srgbClr val="FDCA02"/>
    <a:srgbClr val="003B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4E279A-7BEB-4D80-B4EC-8EEEB6243117}" v="2" dt="2025-09-03T05:18:04.7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907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nd ." userId="1c704044-cce2-49bc-8fa5-d60fa5a4c851" providerId="ADAL" clId="{B24E279A-7BEB-4D80-B4EC-8EEEB6243117}"/>
    <pc:docChg chg="modSld modMainMaster">
      <pc:chgData name="Alind ." userId="1c704044-cce2-49bc-8fa5-d60fa5a4c851" providerId="ADAL" clId="{B24E279A-7BEB-4D80-B4EC-8EEEB6243117}" dt="2025-09-03T05:18:06.829" v="4" actId="1076"/>
      <pc:docMkLst>
        <pc:docMk/>
      </pc:docMkLst>
      <pc:sldChg chg="addSp modSp mod">
        <pc:chgData name="Alind ." userId="1c704044-cce2-49bc-8fa5-d60fa5a4c851" providerId="ADAL" clId="{B24E279A-7BEB-4D80-B4EC-8EEEB6243117}" dt="2025-09-03T05:17:27.185" v="2" actId="1076"/>
        <pc:sldMkLst>
          <pc:docMk/>
          <pc:sldMk cId="1366953221" sldId="355"/>
        </pc:sldMkLst>
        <pc:picChg chg="add mod">
          <ac:chgData name="Alind ." userId="1c704044-cce2-49bc-8fa5-d60fa5a4c851" providerId="ADAL" clId="{B24E279A-7BEB-4D80-B4EC-8EEEB6243117}" dt="2025-09-03T05:17:27.185" v="2" actId="1076"/>
          <ac:picMkLst>
            <pc:docMk/>
            <pc:sldMk cId="1366953221" sldId="355"/>
            <ac:picMk id="2" creationId="{6B166110-5DEF-9A22-5E79-49B603846726}"/>
          </ac:picMkLst>
        </pc:picChg>
      </pc:sldChg>
      <pc:sldMasterChg chg="addSp modSp mod">
        <pc:chgData name="Alind ." userId="1c704044-cce2-49bc-8fa5-d60fa5a4c851" providerId="ADAL" clId="{B24E279A-7BEB-4D80-B4EC-8EEEB6243117}" dt="2025-09-03T05:18:06.829" v="4" actId="1076"/>
        <pc:sldMasterMkLst>
          <pc:docMk/>
          <pc:sldMasterMk cId="787714065" sldId="2147483648"/>
        </pc:sldMasterMkLst>
        <pc:picChg chg="add mod">
          <ac:chgData name="Alind ." userId="1c704044-cce2-49bc-8fa5-d60fa5a4c851" providerId="ADAL" clId="{B24E279A-7BEB-4D80-B4EC-8EEEB6243117}" dt="2025-09-03T05:18:06.829" v="4" actId="1076"/>
          <ac:picMkLst>
            <pc:docMk/>
            <pc:sldMasterMk cId="787714065" sldId="2147483648"/>
            <ac:picMk id="7" creationId="{A092C41B-AE8D-EB1A-4880-5506BEE875FC}"/>
          </ac:picMkLst>
        </pc:pic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8833F3-6894-4446-9DD7-7BF5273401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6AF53-87C6-44D6-8DF0-82D50DF3A3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C3275-9D44-403D-A9EB-A3A69884D368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EFB75-7C7E-4071-8E1E-D75D344B1E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A295B7-2BD5-4BB8-9CAC-58DBCA39BE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83D9E9-DEB7-4D51-A02F-CCFF7D723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C79F9-0E80-4B59-BFBF-922194FB6FE7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85012C-24FD-4033-9E4F-17EFABF705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94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5080AC-C60D-4695-B305-1501005D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D2152-08A9-004F-BE32-52A9C6BDFCAD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CD6079-B8BA-462C-B4F8-F879949C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0D9AAD-96F2-4C0C-A3CC-8F868506B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023CF-B329-E444-9BAC-9F50F1C249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09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E2440C-D902-48AF-BF36-C59A9592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D2152-08A9-004F-BE32-52A9C6BDFCAD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2C376-8056-427F-AD3A-8606A9785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1B15A-F8B0-4ACE-A799-48756E74D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023CF-B329-E444-9BAC-9F50F1C2498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F342DD3-94F2-431A-BF2E-A4BEC5CD7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275826"/>
            <a:ext cx="12192000" cy="564910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387852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D2152-08A9-004F-BE32-52A9C6BDFCAD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023CF-B329-E444-9BAC-9F50F1C2498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E9BCB5A-9765-46B3-8024-522FDFBD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27039"/>
            <a:ext cx="10972800" cy="1143000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BC7395B-BA29-4C79-BEEB-EE53CCFC26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62000" y="1752601"/>
            <a:ext cx="10972800" cy="4525963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950C3E-4668-4901-9878-0DF46FD8E602}"/>
              </a:ext>
            </a:extLst>
          </p:cNvPr>
          <p:cNvSpPr txBox="1">
            <a:spLocks/>
          </p:cNvSpPr>
          <p:nvPr userDrawn="1"/>
        </p:nvSpPr>
        <p:spPr>
          <a:xfrm>
            <a:off x="8890000" y="6508752"/>
            <a:ext cx="284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defPPr>
              <a:defRPr lang="en-US"/>
            </a:defPPr>
            <a:lvl1pPr marL="0" algn="r" defTabSz="457189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457189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1023CF-B329-E444-9BAC-9F50F1C249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19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28D82-6440-427D-B2A3-40E4C2EDFA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275826"/>
            <a:ext cx="12192000" cy="564910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SEPARATOR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E2440C-D902-48AF-BF36-C59A9592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D2152-08A9-004F-BE32-52A9C6BDFCAD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2C376-8056-427F-AD3A-8606A9785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1B15A-F8B0-4ACE-A799-48756E74D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023CF-B329-E444-9BAC-9F50F1C249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720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D2152-08A9-004F-BE32-52A9C6BDFCAD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023CF-B329-E444-9BAC-9F50F1C249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83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D2152-08A9-004F-BE32-52A9C6BDFCAD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023CF-B329-E444-9BAC-9F50F1C2498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92C41B-AE8D-EB1A-4880-5506BEE875F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1280" y="5851841"/>
            <a:ext cx="1950720" cy="731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7714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5" r:id="rId3"/>
    <p:sldLayoutId id="2147483663" r:id="rId4"/>
    <p:sldLayoutId id="2147483650" r:id="rId5"/>
  </p:sldLayoutIdLst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166110-5DEF-9A22-5E79-49B603846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613" y="2054942"/>
            <a:ext cx="4927928" cy="18479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6953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F7A0E-301F-433F-A66A-D8416CCD3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778" y="1057875"/>
            <a:ext cx="4314444" cy="1485763"/>
          </a:xfrm>
        </p:spPr>
        <p:txBody>
          <a:bodyPr>
            <a:normAutofit fontScale="90000"/>
          </a:bodyPr>
          <a:lstStyle/>
          <a:p>
            <a:br>
              <a:rPr lang="en-US" sz="5400" b="1" dirty="0"/>
            </a:br>
            <a:endParaRPr lang="en-US" sz="54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D1F7A0E-301F-433F-A66A-D8416CCD3AAF}"/>
              </a:ext>
            </a:extLst>
          </p:cNvPr>
          <p:cNvSpPr txBox="1">
            <a:spLocks/>
          </p:cNvSpPr>
          <p:nvPr/>
        </p:nvSpPr>
        <p:spPr>
          <a:xfrm>
            <a:off x="8756073" y="4360719"/>
            <a:ext cx="3002540" cy="890154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>
            <a:lvl1pPr algn="ctr" defTabSz="457189" rtl="0" eaLnBrk="1" latinLnBrk="0" hangingPunct="1">
              <a:spcBef>
                <a:spcPct val="0"/>
              </a:spcBef>
              <a:buNone/>
              <a:defRPr sz="36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DD593D-DFEF-F78D-7037-6C2465BF835F}"/>
              </a:ext>
            </a:extLst>
          </p:cNvPr>
          <p:cNvSpPr txBox="1"/>
          <p:nvPr/>
        </p:nvSpPr>
        <p:spPr>
          <a:xfrm>
            <a:off x="2069210" y="1811506"/>
            <a:ext cx="825436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UpTrend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UpTrend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virtual stock trading platform designed to help beginners learn stock trading without financial risk. It provides real-time market visualization, virtual trading, portfolio analytics, and structured learning modules.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 Dr Keshav Sinha</a:t>
            </a:r>
          </a:p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673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F7A0E-301F-433F-A66A-D8416CCD3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7076" y="1007208"/>
            <a:ext cx="12646152" cy="670702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Aditya Narayan Gour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(500106985)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Divya Joshi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(500107118)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D1F7A0E-301F-433F-A66A-D8416CCD3AAF}"/>
              </a:ext>
            </a:extLst>
          </p:cNvPr>
          <p:cNvSpPr txBox="1">
            <a:spLocks/>
          </p:cNvSpPr>
          <p:nvPr/>
        </p:nvSpPr>
        <p:spPr>
          <a:xfrm>
            <a:off x="8756073" y="4360719"/>
            <a:ext cx="3002540" cy="890154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>
            <a:lvl1pPr algn="ctr" defTabSz="457189" rtl="0" eaLnBrk="1" latinLnBrk="0" hangingPunct="1">
              <a:spcBef>
                <a:spcPct val="0"/>
              </a:spcBef>
              <a:buNone/>
              <a:defRPr sz="36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25789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F7A0E-301F-433F-A66A-D8416CCD3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2263"/>
            <a:ext cx="12192000" cy="890154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D1F7A0E-301F-433F-A66A-D8416CCD3AAF}"/>
              </a:ext>
            </a:extLst>
          </p:cNvPr>
          <p:cNvSpPr txBox="1">
            <a:spLocks/>
          </p:cNvSpPr>
          <p:nvPr/>
        </p:nvSpPr>
        <p:spPr>
          <a:xfrm>
            <a:off x="1873692" y="1767494"/>
            <a:ext cx="8587044" cy="3788838"/>
          </a:xfrm>
          <a:prstGeom prst="rect">
            <a:avLst/>
          </a:prstGeom>
        </p:spPr>
        <p:txBody>
          <a:bodyPr vert="horz" lIns="91438" tIns="45719" rIns="91438" bIns="45719" rtlCol="0" anchor="ctr">
            <a:noAutofit/>
          </a:bodyPr>
          <a:lstStyle>
            <a:lvl1pPr algn="ctr" defTabSz="457189" rtl="0" eaLnBrk="1" latinLnBrk="0" hangingPunct="1">
              <a:spcBef>
                <a:spcPct val="0"/>
              </a:spcBef>
              <a:buNone/>
              <a:defRPr sz="36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Simplify stock market learning by providing virtual trading simulation, real-time market visualization, and structured financial education for beginners.</a:t>
            </a:r>
          </a:p>
          <a:p>
            <a:pPr algn="l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trading environment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simulated currency (risk-free learning)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Integrates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or near real-time market data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via stock market APIs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Offers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stock charts and technical indicators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market analysis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 tracking, profit/loss analytics, and performance insights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financial learning modules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(stock basics, technical analysis, risk management)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tracking and personalized learning experience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Beginner-friendly UI for smooth onboarding and usability</a:t>
            </a:r>
          </a:p>
          <a:p>
            <a:pPr algn="l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Technology:</a:t>
            </a:r>
          </a:p>
          <a:p>
            <a:pPr algn="l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MERN Stack, Tailwind CSS, Stock Market APIs (Alpha Vantage / Yahoo Finance / Polygon), Chart Libraries (Chart.js /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TradingView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Widgets)</a:t>
            </a:r>
          </a:p>
          <a:p>
            <a:pPr algn="l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</a:p>
          <a:p>
            <a:pPr algn="l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fear of financial loss, improve financial literacy, and make stock market learning practical, interactive, and accessible for beginners before entering real trading environments.</a:t>
            </a:r>
          </a:p>
        </p:txBody>
      </p:sp>
    </p:spTree>
    <p:extLst>
      <p:ext uri="{BB962C8B-B14F-4D97-AF65-F5344CB8AC3E}">
        <p14:creationId xmlns:p14="http://schemas.microsoft.com/office/powerpoint/2010/main" val="2251364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6422"/>
            <a:ext cx="12192000" cy="564910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FD5187-A041-8F73-F830-55DC98E0F501}"/>
              </a:ext>
            </a:extLst>
          </p:cNvPr>
          <p:cNvSpPr txBox="1"/>
          <p:nvPr/>
        </p:nvSpPr>
        <p:spPr>
          <a:xfrm>
            <a:off x="1840230" y="1296656"/>
            <a:ext cx="851154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Foundations: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Simulation Learning: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Simulation-based trading platforms significantly improve user confidence and decision-making skills before entering real markets (Financial Education Research, 2021)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Market Visualization: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financial charts and live data visualization help traders understand trends faster and improve pattern recognition (Market Analytics Studies, 2022)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Data-Driven Trading Insights: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help identify trading patterns, risk levels, and market signals, improving beginner trading accuracy (AI in FinTech Research, 2023)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Finance &amp; Risk Awareness: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Practice-based trading environments help users control emotional trading and improve risk management discipline (Behavioral Finance Studies, 2020)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Financial Learning Tools: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tracking, portfolio analytics, and guided learning modules improve financial literacy and long-term trading discipline (Digital Financial Learning Research, 2022)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UpTrend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these principles to create a safe, interactive, and education-first trading simulation platform that helps beginners learn market behavior before entering real trading environments.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619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7423F-66EE-4A69-ABEB-0D8E62C3D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46" y="590756"/>
            <a:ext cx="12192000" cy="56491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12DC3C-DFC7-0A99-B2F8-160F792C4EC2}"/>
              </a:ext>
            </a:extLst>
          </p:cNvPr>
          <p:cNvSpPr txBox="1"/>
          <p:nvPr/>
        </p:nvSpPr>
        <p:spPr>
          <a:xfrm>
            <a:off x="1460624" y="1255618"/>
            <a:ext cx="927075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by Beginner Traders: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financial literacy and basic stock market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 of financial loss while learning trading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and overwhelming trading platforms for beginners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safe environment to practice trading without real money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understanding market trends, charts, and technical indicators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trading due to lack of strategy and risk management knowledge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Required: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virtual trading and financial learning platform that: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trading environment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simulated currency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or near real-time market data visualization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stock charts and analytics dashboards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market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financial learning modules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(stock basics, technical analysis, risk management)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tracking and performance analytics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help users learn from mistakes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beginner-friendly UI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easy navigation and trading 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tracking and personalized learning experience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442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92054"/>
            <a:ext cx="12192000" cy="564910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80383-34AD-4F2B-BB01-CE6EA8C90F5E}"/>
              </a:ext>
            </a:extLst>
          </p:cNvPr>
          <p:cNvSpPr txBox="1"/>
          <p:nvPr/>
        </p:nvSpPr>
        <p:spPr>
          <a:xfrm>
            <a:off x="1634490" y="1641223"/>
            <a:ext cx="892302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Build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UpTrend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interest in stock market participation among beginners and young investors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simplify complex financial and trading concepts for better understanding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safe environments where users can practice trading without financial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to leverage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market data, analytics, and AI-based insights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the gap between theoretical financial knowledge and real-world trading experience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users develop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 skills, trading discipline, and market confidence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financial literacy and informed investment decision-making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responsible trading behavior before entering real-money markets</a:t>
            </a:r>
          </a:p>
        </p:txBody>
      </p:sp>
    </p:spTree>
    <p:extLst>
      <p:ext uri="{BB962C8B-B14F-4D97-AF65-F5344CB8AC3E}">
        <p14:creationId xmlns:p14="http://schemas.microsoft.com/office/powerpoint/2010/main" val="1088994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4200"/>
            <a:ext cx="12192000" cy="564910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2761C-B985-D978-E55D-C2C8A6B44783}"/>
              </a:ext>
            </a:extLst>
          </p:cNvPr>
          <p:cNvSpPr txBox="1"/>
          <p:nvPr/>
        </p:nvSpPr>
        <p:spPr>
          <a:xfrm>
            <a:off x="1452531" y="949184"/>
            <a:ext cx="10224357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 Unified Trading Platform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responsive web application using the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MERN stack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market data APIs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fetch real-time or near real-time market prices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centralized dashboard for trading, learning, and analytics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Implement Trading Simulation &amp; Analytics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currency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simulate real stock trading without financial risk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system to calculate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profit/loss, returns, and portfolio valuation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Create Interactive Market Visualizations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stock charts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(candlestick, line, volume indicators)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market trends, price movements, and technical indicators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engagement and understanding of market behavior through visuals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Incorporate Financial Learning Tools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structured learning modules covering: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market basics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analysis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 &amp; trading psychology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learning milestones. Offer contextual learning tips linked to trading actions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Optimize User Experience &amp; System Performance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intuitive UI design suitable for beginners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smooth performance and responsiveness across devices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functional testing and usability testing. Continuously refine features based on user feedback and usage analytics</a:t>
            </a:r>
          </a:p>
        </p:txBody>
      </p:sp>
    </p:spTree>
    <p:extLst>
      <p:ext uri="{BB962C8B-B14F-4D97-AF65-F5344CB8AC3E}">
        <p14:creationId xmlns:p14="http://schemas.microsoft.com/office/powerpoint/2010/main" val="2222943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090" y="597387"/>
            <a:ext cx="11568546" cy="564910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62B14-36E3-2AE0-028C-7554CB921672}"/>
              </a:ext>
            </a:extLst>
          </p:cNvPr>
          <p:cNvSpPr txBox="1"/>
          <p:nvPr/>
        </p:nvSpPr>
        <p:spPr>
          <a:xfrm>
            <a:off x="1505572" y="1169649"/>
            <a:ext cx="953123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Requirement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challenges faced by beginner traders such as lack of financial knowledge and fear of monetary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features: virtual trading, real-time market charts, portfolio analytics, learning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technologies: MERN stack, Tailwind CSS, Chart libraries, Stock Market Data APIs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Platform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React.js with Tailwind CSS for responsive and beginner-friendly 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Node.js and Express.js for APIs, MongoDB for user data, trade history, and portfolio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virtual trading engine, market data APIs, and interactive chart visualizations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Testing &amp;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trading simulation accuracy, chart rendering performance, and UI responsiveness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API calls, loading speed, and dashboard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user feedback to improve usability and learning experience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Deployment &amp; Maintenance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using cloud platforms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/Netlify for frontend, Render/Heroku for backend)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bug fixes, scalability testing, and performance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future updates (AI trading insights, social trading, mobile app support)</a:t>
            </a:r>
          </a:p>
        </p:txBody>
      </p:sp>
    </p:spTree>
    <p:extLst>
      <p:ext uri="{BB962C8B-B14F-4D97-AF65-F5344CB8AC3E}">
        <p14:creationId xmlns:p14="http://schemas.microsoft.com/office/powerpoint/2010/main" val="2490127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506" y="459218"/>
            <a:ext cx="11568546" cy="564910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9390BB-728B-6830-017C-CD41B95CAA1B}"/>
              </a:ext>
            </a:extLst>
          </p:cNvPr>
          <p:cNvSpPr txBox="1"/>
          <p:nvPr/>
        </p:nvSpPr>
        <p:spPr>
          <a:xfrm>
            <a:off x="1007364" y="1230225"/>
            <a:ext cx="1017727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MERN Stack (MongoDB, Express.js, React.js, Node.js)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Core technologies for platform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responsive and modern UI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Libraries (Chart.js /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TradingView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Widgets / Recharts)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interactive stock charts and market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Market Data APIs (Alpha Vantage / Yahoo Finance / Polygon)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real-time or near real-time market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Code, WebStorm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 / GitHub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market data APIs for price, volume, and market trend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market datasets for analytics and performance comparison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learning content for educational modules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trading simulation accuracy and portfolio calculation correctness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real-time chart rendering and market data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smooth dashboard performance and API response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cross-device responsiveness and UI usability</a:t>
            </a:r>
          </a:p>
        </p:txBody>
      </p:sp>
    </p:spTree>
    <p:extLst>
      <p:ext uri="{BB962C8B-B14F-4D97-AF65-F5344CB8AC3E}">
        <p14:creationId xmlns:p14="http://schemas.microsoft.com/office/powerpoint/2010/main" val="3628517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27" y="1110460"/>
            <a:ext cx="11568546" cy="564910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Phases</a:t>
            </a:r>
            <a:br>
              <a:rPr lang="en-IN" dirty="0"/>
            </a:b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E91ED9-579C-A652-D1E1-4B4A28213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99" y="2243328"/>
            <a:ext cx="11456601" cy="3048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047912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62" y="487659"/>
            <a:ext cx="11568546" cy="56491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Algorithmic approach / Learnings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80EF8E-0A71-39FA-2959-44A630FE187F}"/>
              </a:ext>
            </a:extLst>
          </p:cNvPr>
          <p:cNvSpPr txBox="1"/>
          <p:nvPr/>
        </p:nvSpPr>
        <p:spPr>
          <a:xfrm>
            <a:off x="1203128" y="1249590"/>
            <a:ext cx="978574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 Approach: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Data Integration: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Fetch stock price, volume, and trend data using stock market APIs (e.g., Alpha Vantage, Yahoo Finance, Polygon)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Trading Simulation Engine: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Simulate buy/sell orders using virtual currency and update portfolio values based on real-time market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Analytics: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 profit/loss, returns, and portfolio diversification metrics using historical and live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Visualization: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chart libraries (Chart.js /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TradingView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generate interactive candlestick charts, line charts, and technical indicators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API calls to ensure smooth real-time data updates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efficient dashboard rendering for charts and analytics visualization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scalable backend handling for multiple users and trade simulations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cross-device performance for seamless trading and learning experience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importance of handling market data latency and error handling in financial applications</a:t>
            </a:r>
          </a:p>
        </p:txBody>
      </p:sp>
    </p:spTree>
    <p:extLst>
      <p:ext uri="{BB962C8B-B14F-4D97-AF65-F5344CB8AC3E}">
        <p14:creationId xmlns:p14="http://schemas.microsoft.com/office/powerpoint/2010/main" val="3081845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17708"/>
            <a:ext cx="12192000" cy="564910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 (Gantt Chart)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2FF89-1C3D-CE15-1BBA-BDE482D4CB00}"/>
              </a:ext>
            </a:extLst>
          </p:cNvPr>
          <p:cNvSpPr txBox="1"/>
          <p:nvPr/>
        </p:nvSpPr>
        <p:spPr>
          <a:xfrm>
            <a:off x="1790700" y="1536174"/>
            <a:ext cx="8610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Requirement analysis, feature planning (virtual trading, market charts, learning modules), and tech stack setup.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 development (trading dashboard UI), backend development (trading logic, APIs), market data API integration, and chart visualization implementation.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Testing trading simulation accuracy, portfolio calculations, real-time chart updates, performance optimization, and user feedback collection.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deployment, final bug fixes, scalability checks, and system performance monitoring.</a:t>
            </a:r>
          </a:p>
        </p:txBody>
      </p:sp>
    </p:spTree>
    <p:extLst>
      <p:ext uri="{BB962C8B-B14F-4D97-AF65-F5344CB8AC3E}">
        <p14:creationId xmlns:p14="http://schemas.microsoft.com/office/powerpoint/2010/main" val="207816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01168" y="1194340"/>
            <a:ext cx="12192000" cy="564910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&amp; GIT link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2BA8B0-8703-2C3F-D6B0-F43E92A17F53}"/>
              </a:ext>
            </a:extLst>
          </p:cNvPr>
          <p:cNvSpPr txBox="1"/>
          <p:nvPr/>
        </p:nvSpPr>
        <p:spPr>
          <a:xfrm>
            <a:off x="2293620" y="1948999"/>
            <a:ext cx="760476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Xiao, Y., &amp; Watson, M. (2020).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Financial simulation platforms and investor behavior learning.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Financial Education.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Gomber, P., Koch, J., &amp; Siering, M. (2017).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Finance and FinTech: Current research and future research directions.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Business Economics.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Feng, G., He, J., &amp; Polson, N. (2018).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in asset pricing and financial market prediction.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Analysts Journal.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Barber, B., &amp; Odean, T. (2013).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behavior of individual investors in financial markets.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Handbook of the Economics of Finance.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Lo, A. (2019).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Adaptive markets and financial decision-making behavior.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Princeton University Press / Financial Research Publications.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OECD (2021).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Financial Literacy and Investor Education in the Digital Age.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OECD Financial Education Reports.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861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120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9945</TotalTime>
  <Words>1591</Words>
  <Application>Microsoft Office PowerPoint</Application>
  <PresentationFormat>Widescreen</PresentationFormat>
  <Paragraphs>147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 </vt:lpstr>
      <vt:lpstr>Team Members: Aditya Narayan Gour (500106985)  Divya Joshi (500107118)   </vt:lpstr>
      <vt:lpstr>Introduction</vt:lpstr>
      <vt:lpstr>Literature Review</vt:lpstr>
      <vt:lpstr>Problem Statement</vt:lpstr>
      <vt:lpstr>Motivation</vt:lpstr>
      <vt:lpstr>Objectives</vt:lpstr>
      <vt:lpstr>Methodology</vt:lpstr>
      <vt:lpstr>Experimental Setup</vt:lpstr>
      <vt:lpstr>Development Phases </vt:lpstr>
      <vt:lpstr>Algorithmic approach / Learnings</vt:lpstr>
      <vt:lpstr>TIMELINE (Gantt Chart) </vt:lpstr>
      <vt:lpstr>References &amp; GIT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Strengthen the embankments</dc:title>
  <dc:creator>Apple 2</dc:creator>
  <cp:lastModifiedBy>Divya Joshi</cp:lastModifiedBy>
  <cp:revision>654</cp:revision>
  <cp:lastPrinted>2017-08-16T11:40:20Z</cp:lastPrinted>
  <dcterms:created xsi:type="dcterms:W3CDTF">2017-08-14T08:34:40Z</dcterms:created>
  <dcterms:modified xsi:type="dcterms:W3CDTF">2026-03-14T08:05:49Z</dcterms:modified>
</cp:coreProperties>
</file>